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37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87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17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18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17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18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3" Type="http://schemas.openxmlformats.org/officeDocument/2006/relationships/image" Target="../media/image17.png"/><Relationship Id="rId7" Type="http://schemas.openxmlformats.org/officeDocument/2006/relationships/image" Target="../media/image69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18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17.png"/><Relationship Id="rId21" Type="http://schemas.openxmlformats.org/officeDocument/2006/relationships/image" Target="../media/image9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55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18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17.png"/><Relationship Id="rId21" Type="http://schemas.openxmlformats.org/officeDocument/2006/relationships/image" Target="../media/image74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5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24" Type="http://schemas.openxmlformats.org/officeDocument/2006/relationships/image" Target="../media/image111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23" Type="http://schemas.openxmlformats.org/officeDocument/2006/relationships/image" Target="../media/image110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18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Relationship Id="rId22" Type="http://schemas.openxmlformats.org/officeDocument/2006/relationships/image" Target="../media/image10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3.png"/><Relationship Id="rId3" Type="http://schemas.openxmlformats.org/officeDocument/2006/relationships/image" Target="../media/image17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5.png"/><Relationship Id="rId20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04.png"/><Relationship Id="rId10" Type="http://schemas.openxmlformats.org/officeDocument/2006/relationships/image" Target="../media/image117.png"/><Relationship Id="rId19" Type="http://schemas.openxmlformats.org/officeDocument/2006/relationships/image" Target="../media/image124.png"/><Relationship Id="rId4" Type="http://schemas.openxmlformats.org/officeDocument/2006/relationships/image" Target="../media/image18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7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8.png"/><Relationship Id="rId9" Type="http://schemas.openxmlformats.org/officeDocument/2006/relationships/image" Target="../media/image1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7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10" Type="http://schemas.openxmlformats.org/officeDocument/2006/relationships/image" Target="../media/image133.png"/><Relationship Id="rId4" Type="http://schemas.openxmlformats.org/officeDocument/2006/relationships/image" Target="../media/image18.png"/><Relationship Id="rId9" Type="http://schemas.openxmlformats.org/officeDocument/2006/relationships/image" Target="../media/image1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7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8.png"/><Relationship Id="rId9" Type="http://schemas.openxmlformats.org/officeDocument/2006/relationships/image" Target="../media/image1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147.png"/><Relationship Id="rId18" Type="http://schemas.openxmlformats.org/officeDocument/2006/relationships/image" Target="../media/image152.png"/><Relationship Id="rId3" Type="http://schemas.openxmlformats.org/officeDocument/2006/relationships/image" Target="../media/image17.png"/><Relationship Id="rId7" Type="http://schemas.openxmlformats.org/officeDocument/2006/relationships/image" Target="../media/image142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0.png"/><Relationship Id="rId20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1" Type="http://schemas.openxmlformats.org/officeDocument/2006/relationships/image" Target="../media/image145.png"/><Relationship Id="rId5" Type="http://schemas.openxmlformats.org/officeDocument/2006/relationships/image" Target="../media/image140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19" Type="http://schemas.openxmlformats.org/officeDocument/2006/relationships/image" Target="../media/image153.png"/><Relationship Id="rId4" Type="http://schemas.openxmlformats.org/officeDocument/2006/relationships/image" Target="../media/image18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18" Type="http://schemas.openxmlformats.org/officeDocument/2006/relationships/image" Target="../media/image170.png"/><Relationship Id="rId3" Type="http://schemas.openxmlformats.org/officeDocument/2006/relationships/image" Target="../media/image155.png"/><Relationship Id="rId21" Type="http://schemas.openxmlformats.org/officeDocument/2006/relationships/image" Target="../media/image173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17" Type="http://schemas.openxmlformats.org/officeDocument/2006/relationships/image" Target="../media/image16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68.png"/><Relationship Id="rId20" Type="http://schemas.openxmlformats.org/officeDocument/2006/relationships/image" Target="../media/image1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24" Type="http://schemas.openxmlformats.org/officeDocument/2006/relationships/image" Target="../media/image176.png"/><Relationship Id="rId5" Type="http://schemas.openxmlformats.org/officeDocument/2006/relationships/image" Target="../media/image157.png"/><Relationship Id="rId15" Type="http://schemas.openxmlformats.org/officeDocument/2006/relationships/image" Target="../media/image167.png"/><Relationship Id="rId23" Type="http://schemas.openxmlformats.org/officeDocument/2006/relationships/image" Target="../media/image175.png"/><Relationship Id="rId10" Type="http://schemas.openxmlformats.org/officeDocument/2006/relationships/image" Target="../media/image162.png"/><Relationship Id="rId19" Type="http://schemas.openxmlformats.org/officeDocument/2006/relationships/image" Target="../media/image171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Relationship Id="rId22" Type="http://schemas.openxmlformats.org/officeDocument/2006/relationships/image" Target="../media/image1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371600"/>
            <a:ext cx="5715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2057400"/>
            <a:ext cx="571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1028700"/>
            <a:ext cx="57150" cy="57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400300"/>
            <a:ext cx="57150" cy="571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714500"/>
            <a:ext cx="5715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2743200"/>
            <a:ext cx="57150" cy="571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14500"/>
            <a:ext cx="182880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400" y="2400300"/>
            <a:ext cx="24384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1028700"/>
            <a:ext cx="182880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2743200"/>
            <a:ext cx="3048000" cy="190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2057400"/>
            <a:ext cx="1219200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5491" y="1709738"/>
            <a:ext cx="3429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9309" y="1709738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9142" y="4110038"/>
            <a:ext cx="4493568" cy="95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29263" y="628650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5013" y="62865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19813" y="62865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24613" y="6286500"/>
            <a:ext cx="238125" cy="2667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703719" y="2471738"/>
            <a:ext cx="10784562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Water Utility</a:t>
            </a:r>
            <a:endParaRPr lang="en-US" sz="4500" dirty="0"/>
          </a:p>
        </p:txBody>
      </p:sp>
      <p:sp>
        <p:nvSpPr>
          <p:cNvPr id="22" name="Text 1"/>
          <p:cNvSpPr/>
          <p:nvPr/>
        </p:nvSpPr>
        <p:spPr>
          <a:xfrm>
            <a:off x="703719" y="3271838"/>
            <a:ext cx="1078456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Consumption Monitoring &amp; Anomaly Detection</a:t>
            </a:r>
            <a:endParaRPr lang="en-US" sz="2700" dirty="0"/>
          </a:p>
        </p:txBody>
      </p:sp>
      <p:sp>
        <p:nvSpPr>
          <p:cNvPr id="23" name="Text 2"/>
          <p:cNvSpPr/>
          <p:nvPr/>
        </p:nvSpPr>
        <p:spPr>
          <a:xfrm>
            <a:off x="1602432" y="4424363"/>
            <a:ext cx="898713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1602432" y="4805363"/>
            <a:ext cx="898713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Sanket Dhole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4457700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97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4859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3434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5720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8006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8300" y="121920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8300" y="1638300"/>
            <a:ext cx="6362700" cy="1066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0700" y="17907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5950" y="19050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8300" y="2895600"/>
            <a:ext cx="63627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0700" y="30480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0" y="31623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8300" y="4152900"/>
            <a:ext cx="6362700" cy="1066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0700" y="43053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34050" y="4419600"/>
            <a:ext cx="1143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Objective &amp; Problem Statement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19200" y="1485900"/>
            <a:ext cx="146232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609600" y="2019300"/>
            <a:ext cx="40005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a scalable data platform for real-time water monitoring, anomaly detection, billing, and analytics.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838200" y="4305300"/>
            <a:ext cx="1643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insights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838200" y="4533900"/>
            <a:ext cx="27842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anomaly detection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838200" y="4762500"/>
            <a:ext cx="26422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Production-style architecture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5791200" y="1181100"/>
            <a:ext cx="6362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Problems Addressed</a:t>
            </a:r>
            <a:endParaRPr lang="en-US" sz="1800" dirty="0"/>
          </a:p>
        </p:txBody>
      </p:sp>
      <p:sp>
        <p:nvSpPr>
          <p:cNvPr id="27" name="Text 7"/>
          <p:cNvSpPr/>
          <p:nvPr/>
        </p:nvSpPr>
        <p:spPr>
          <a:xfrm>
            <a:off x="6134100" y="1790700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Real-time Consumption Visibility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134100" y="2095500"/>
            <a:ext cx="5524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Utility cannot monitor water usage patterns as they happen, leading to delayed responses to issues.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6134100" y="3048000"/>
            <a:ext cx="5524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 Anomaly Detection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6134100" y="3352800"/>
            <a:ext cx="5524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Leaks and consumption spikes are detected after significant damage or resource waste has occurred.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6134100" y="4305300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Billing &amp; Poor Analytics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6134100" y="4610100"/>
            <a:ext cx="5524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Outdated systems rely on manual intervention for billing and provide limited analytical insights.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10796141" y="54483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 Approach</a:t>
            </a:r>
            <a:endParaRPr lang="en-US" sz="27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B625BEB-0998-C076-F4F0-3746858BCA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01" y="1246909"/>
            <a:ext cx="11524532" cy="43387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3682901" cy="1866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13525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401" y="1104900"/>
            <a:ext cx="3683050" cy="1866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4901" y="12954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1104900"/>
            <a:ext cx="3682901" cy="1866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8450" y="12954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3700" y="135255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162300"/>
            <a:ext cx="3682901" cy="1866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3528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0563" y="3409950"/>
            <a:ext cx="1428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54401" y="3162300"/>
            <a:ext cx="3683050" cy="1866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4901" y="33528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9676" y="34099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27950" y="3162300"/>
            <a:ext cx="3682901" cy="1866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8450" y="33528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9888" y="3409950"/>
            <a:ext cx="238125" cy="2667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Technology Stack Overview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066800" y="1333500"/>
            <a:ext cx="82456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800100" y="179070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Functional programming, immutability, case classes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800100" y="232410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Safe concurrent data processing with immutable data structures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4940201" y="1333500"/>
            <a:ext cx="76241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Akka</a:t>
            </a:r>
            <a:endParaRPr lang="en-US" sz="1800" dirty="0"/>
          </a:p>
        </p:txBody>
      </p:sp>
      <p:sp>
        <p:nvSpPr>
          <p:cNvPr id="26" name="Text 5"/>
          <p:cNvSpPr/>
          <p:nvPr/>
        </p:nvSpPr>
        <p:spPr>
          <a:xfrm>
            <a:off x="4673501" y="179070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Actor model for massive device simulation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4673501" y="232410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Scheduler &amp; fault isolation for reliable processing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8813750" y="1333500"/>
            <a:ext cx="8845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Kafka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8547050" y="1790700"/>
            <a:ext cx="39622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E749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Distributed pub-sub ingestion layer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8547050" y="209550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E749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throughput, partitioned, fault-tolerant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1066800" y="3390900"/>
            <a:ext cx="89689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Spark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800100" y="384810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Streaming for real-time anomaly detection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800100" y="4381500"/>
            <a:ext cx="3301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Spark SQL &amp; Catalyst optimizer for batch analytics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4940201" y="3390900"/>
            <a:ext cx="258085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Storage Formats</a:t>
            </a:r>
            <a:endParaRPr lang="en-US" sz="1800" dirty="0"/>
          </a:p>
        </p:txBody>
      </p:sp>
      <p:sp>
        <p:nvSpPr>
          <p:cNvPr id="35" name="Text 14"/>
          <p:cNvSpPr/>
          <p:nvPr/>
        </p:nvSpPr>
        <p:spPr>
          <a:xfrm>
            <a:off x="4673501" y="384810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JSON: Lightweight, fast access for recent readings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4673501" y="4381500"/>
            <a:ext cx="3302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Avro + S3: Schema enforcement, compression, analytics-ready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8813750" y="3390900"/>
            <a:ext cx="246780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Play Framework</a:t>
            </a:r>
            <a:endParaRPr lang="en-US" sz="1800" dirty="0"/>
          </a:p>
        </p:txBody>
      </p:sp>
      <p:sp>
        <p:nvSpPr>
          <p:cNvPr id="38" name="Text 17"/>
          <p:cNvSpPr/>
          <p:nvPr/>
        </p:nvSpPr>
        <p:spPr>
          <a:xfrm>
            <a:off x="8547050" y="3848100"/>
            <a:ext cx="39622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Asynchronous, non-blocking REST APIs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8547050" y="4152900"/>
            <a:ext cx="39622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Reactive &amp; scalable service layer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10796141" y="52578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Overall System Architecture</a:t>
            </a:r>
            <a:endParaRPr lang="en-US" sz="2700" dirty="0"/>
          </a:p>
        </p:txBody>
      </p:sp>
      <p:sp>
        <p:nvSpPr>
          <p:cNvPr id="57" name="Text 21"/>
          <p:cNvSpPr/>
          <p:nvPr/>
        </p:nvSpPr>
        <p:spPr>
          <a:xfrm>
            <a:off x="10796141" y="56388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EA44637B-D0C4-FD6B-9D30-3C3A033E6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1979" y="762000"/>
            <a:ext cx="6868041" cy="5912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47800"/>
            <a:ext cx="11430000" cy="4610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600200"/>
            <a:ext cx="111252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019300"/>
            <a:ext cx="1112520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1336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247900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21717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24003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2705100"/>
            <a:ext cx="11125200" cy="914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857500"/>
            <a:ext cx="284708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880" y="29718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28575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3200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3619500"/>
            <a:ext cx="11125200" cy="685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771900"/>
            <a:ext cx="310158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5629" y="388620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37719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40005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305300"/>
            <a:ext cx="11125200" cy="914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457700"/>
            <a:ext cx="275332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316" y="4572000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45720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49149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5219700"/>
            <a:ext cx="11125200" cy="685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533400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54483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53721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551" y="5600700"/>
            <a:ext cx="15240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Model &amp; Storage Strategy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381000" y="10287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Multi-layer data storage approach optimized for different use cases:</a:t>
            </a:r>
            <a:endParaRPr lang="en-US" sz="1350" dirty="0"/>
          </a:p>
        </p:txBody>
      </p:sp>
      <p:sp>
        <p:nvSpPr>
          <p:cNvPr id="33" name="Text 2"/>
          <p:cNvSpPr/>
          <p:nvPr/>
        </p:nvSpPr>
        <p:spPr>
          <a:xfrm>
            <a:off x="685800" y="1600200"/>
            <a:ext cx="1854101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Layer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2539901" y="1600200"/>
            <a:ext cx="333756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 / Storage</a:t>
            </a:r>
            <a:endParaRPr lang="en-US" sz="1350" dirty="0"/>
          </a:p>
        </p:txBody>
      </p:sp>
      <p:sp>
        <p:nvSpPr>
          <p:cNvPr id="35" name="Text 4"/>
          <p:cNvSpPr/>
          <p:nvPr/>
        </p:nvSpPr>
        <p:spPr>
          <a:xfrm>
            <a:off x="5321201" y="1600200"/>
            <a:ext cx="37083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9029551" y="1600200"/>
            <a:ext cx="2781449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Used</a:t>
            </a:r>
            <a:endParaRPr lang="en-US" sz="1350" dirty="0"/>
          </a:p>
        </p:txBody>
      </p:sp>
      <p:sp>
        <p:nvSpPr>
          <p:cNvPr id="37" name="Text 6"/>
          <p:cNvSpPr/>
          <p:nvPr/>
        </p:nvSpPr>
        <p:spPr>
          <a:xfrm>
            <a:off x="1181100" y="2209800"/>
            <a:ext cx="10729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2539901" y="2133600"/>
            <a:ext cx="2476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5321201" y="2133600"/>
            <a:ext cx="3403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customer, household, billing_plan, billing_history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9258151" y="2133600"/>
            <a:ext cx="2971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ACID transactions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9258151" y="2362200"/>
            <a:ext cx="2971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Relational joins for billing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1084808" y="2819400"/>
            <a:ext cx="115029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Streaming Ingestion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2539901" y="2819400"/>
            <a:ext cx="2476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Kafka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5321201" y="2819400"/>
            <a:ext cx="4084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smart_water_readings events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9258151" y="2819400"/>
            <a:ext cx="2971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High-throughput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9258151" y="3048000"/>
            <a:ext cx="24766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Fault-tolerant event backbone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1110258" y="3733800"/>
            <a:ext cx="112484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Device Simulation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2539901" y="3733800"/>
            <a:ext cx="2476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Akka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5321201" y="3733800"/>
            <a:ext cx="4084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Synthetic meter events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9258151" y="3733800"/>
            <a:ext cx="2971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Actor-based concurrency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9258151" y="3962400"/>
            <a:ext cx="2971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Scalable simulations</a:t>
            </a:r>
            <a:endParaRPr lang="en-US" sz="1200" dirty="0"/>
          </a:p>
        </p:txBody>
      </p:sp>
      <p:sp>
        <p:nvSpPr>
          <p:cNvPr id="52" name="Text 21"/>
          <p:cNvSpPr/>
          <p:nvPr/>
        </p:nvSpPr>
        <p:spPr>
          <a:xfrm>
            <a:off x="1075432" y="4419600"/>
            <a:ext cx="115966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Processing</a:t>
            </a:r>
            <a:endParaRPr lang="en-US" sz="1200" dirty="0"/>
          </a:p>
        </p:txBody>
      </p:sp>
      <p:sp>
        <p:nvSpPr>
          <p:cNvPr id="53" name="Text 22"/>
          <p:cNvSpPr/>
          <p:nvPr/>
        </p:nvSpPr>
        <p:spPr>
          <a:xfrm>
            <a:off x="2539901" y="4419600"/>
            <a:ext cx="297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Spark Streaming</a:t>
            </a:r>
            <a:endParaRPr lang="en-US" sz="1200" dirty="0"/>
          </a:p>
        </p:txBody>
      </p:sp>
      <p:sp>
        <p:nvSpPr>
          <p:cNvPr id="54" name="Text 23"/>
          <p:cNvSpPr/>
          <p:nvPr/>
        </p:nvSpPr>
        <p:spPr>
          <a:xfrm>
            <a:off x="5321201" y="4419600"/>
            <a:ext cx="4084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Enriched meter readings</a:t>
            </a:r>
            <a:endParaRPr lang="en-US" sz="1200" dirty="0"/>
          </a:p>
        </p:txBody>
      </p:sp>
      <p:sp>
        <p:nvSpPr>
          <p:cNvPr id="55" name="Text 24"/>
          <p:cNvSpPr/>
          <p:nvPr/>
        </p:nvSpPr>
        <p:spPr>
          <a:xfrm>
            <a:off x="9258151" y="4419600"/>
            <a:ext cx="24766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Low-latency stream processing</a:t>
            </a:r>
            <a:endParaRPr lang="en-US" sz="1200" dirty="0"/>
          </a:p>
        </p:txBody>
      </p:sp>
      <p:sp>
        <p:nvSpPr>
          <p:cNvPr id="56" name="Text 25"/>
          <p:cNvSpPr/>
          <p:nvPr/>
        </p:nvSpPr>
        <p:spPr>
          <a:xfrm>
            <a:off x="9258151" y="4876800"/>
            <a:ext cx="2971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At-scale anomaly detection</a:t>
            </a:r>
            <a:endParaRPr lang="en-US" sz="1200" dirty="0"/>
          </a:p>
        </p:txBody>
      </p:sp>
      <p:sp>
        <p:nvSpPr>
          <p:cNvPr id="57" name="Text 26"/>
          <p:cNvSpPr/>
          <p:nvPr/>
        </p:nvSpPr>
        <p:spPr>
          <a:xfrm>
            <a:off x="1181100" y="5410200"/>
            <a:ext cx="12628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Serving Layer</a:t>
            </a:r>
            <a:endParaRPr lang="en-US" sz="1200" dirty="0"/>
          </a:p>
        </p:txBody>
      </p:sp>
      <p:sp>
        <p:nvSpPr>
          <p:cNvPr id="58" name="Text 27"/>
          <p:cNvSpPr/>
          <p:nvPr/>
        </p:nvSpPr>
        <p:spPr>
          <a:xfrm>
            <a:off x="2539901" y="5334000"/>
            <a:ext cx="2476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JSON Files</a:t>
            </a:r>
            <a:endParaRPr lang="en-US" sz="1200" dirty="0"/>
          </a:p>
        </p:txBody>
      </p:sp>
      <p:sp>
        <p:nvSpPr>
          <p:cNvPr id="59" name="Text 28"/>
          <p:cNvSpPr/>
          <p:nvPr/>
        </p:nvSpPr>
        <p:spPr>
          <a:xfrm>
            <a:off x="5321201" y="5334000"/>
            <a:ext cx="4084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Latest 50 readings per household</a:t>
            </a:r>
            <a:endParaRPr lang="en-US" sz="1200" dirty="0"/>
          </a:p>
        </p:txBody>
      </p:sp>
      <p:sp>
        <p:nvSpPr>
          <p:cNvPr id="60" name="Text 29"/>
          <p:cNvSpPr/>
          <p:nvPr/>
        </p:nvSpPr>
        <p:spPr>
          <a:xfrm>
            <a:off x="9258151" y="5334000"/>
            <a:ext cx="2971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Lightweight, fast read</a:t>
            </a:r>
            <a:endParaRPr lang="en-US" sz="1200" dirty="0"/>
          </a:p>
        </p:txBody>
      </p:sp>
      <p:sp>
        <p:nvSpPr>
          <p:cNvPr id="61" name="Text 30"/>
          <p:cNvSpPr/>
          <p:nvPr/>
        </p:nvSpPr>
        <p:spPr>
          <a:xfrm>
            <a:off x="9258151" y="5562600"/>
            <a:ext cx="2971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 &amp; API response</a:t>
            </a:r>
            <a:endParaRPr lang="en-US" sz="1200" dirty="0"/>
          </a:p>
        </p:txBody>
      </p:sp>
      <p:sp>
        <p:nvSpPr>
          <p:cNvPr id="62" name="Text 31"/>
          <p:cNvSpPr/>
          <p:nvPr/>
        </p:nvSpPr>
        <p:spPr>
          <a:xfrm>
            <a:off x="10796141" y="61341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1143000"/>
            <a:ext cx="2743200" cy="1181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3335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1625" y="14097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730" y="1143000"/>
            <a:ext cx="2743200" cy="118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230" y="13335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7530" y="14097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590800"/>
            <a:ext cx="5600700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857500"/>
            <a:ext cx="28575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3147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6576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2590800"/>
            <a:ext cx="5600700" cy="1485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857500"/>
            <a:ext cx="17145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3147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657600"/>
            <a:ext cx="17145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A - Meter Simulation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2057400" y="1428750"/>
            <a:ext cx="15425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Akka Actors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485900" y="1905000"/>
            <a:ext cx="2834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Simulate water meters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7364730" y="1428750"/>
            <a:ext cx="7372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Kafka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6793230" y="1905000"/>
            <a:ext cx="2834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broker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009650" y="28194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25" name="Text 6"/>
          <p:cNvSpPr/>
          <p:nvPr/>
        </p:nvSpPr>
        <p:spPr>
          <a:xfrm>
            <a:off x="876300" y="3276600"/>
            <a:ext cx="38553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Time-based patterns: Daily, weekly cycles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876300" y="3619500"/>
            <a:ext cx="31336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Anomaly injection: 2% of readings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724650" y="28194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28" name="Text 9"/>
          <p:cNvSpPr/>
          <p:nvPr/>
        </p:nvSpPr>
        <p:spPr>
          <a:xfrm>
            <a:off x="6724650" y="3276600"/>
            <a:ext cx="33505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Actor model: Concurrent simulations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724650" y="3619500"/>
            <a:ext cx="30253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Scheduler: Controlled generation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10796141" y="43053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4F2F9166-F5F4-6756-1EA9-E7A7425B24FD}"/>
              </a:ext>
            </a:extLst>
          </p:cNvPr>
          <p:cNvSpPr/>
          <p:nvPr/>
        </p:nvSpPr>
        <p:spPr>
          <a:xfrm>
            <a:off x="4276077" y="1562436"/>
            <a:ext cx="2051773" cy="323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1314450"/>
            <a:ext cx="1676400" cy="647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1300" y="14859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104900"/>
            <a:ext cx="167640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2100" y="148590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600" y="1314450"/>
            <a:ext cx="1676400" cy="647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2900" y="148590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476500"/>
            <a:ext cx="2743200" cy="1066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26289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2705100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6600" y="2476500"/>
            <a:ext cx="2743200" cy="1066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0" y="2628900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05200" y="27051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2200" y="2476500"/>
            <a:ext cx="274320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2628900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27051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67800" y="2476500"/>
            <a:ext cx="2743200" cy="1066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20200" y="26289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05925" y="270510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3771900"/>
            <a:ext cx="11430000" cy="20002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4000500"/>
            <a:ext cx="190500" cy="190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3815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6863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9911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5295900"/>
            <a:ext cx="15240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B - Real-Time Processing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3124200" y="1428750"/>
            <a:ext cx="10611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Kafka</a:t>
            </a:r>
            <a:endParaRPr lang="en-US" sz="1200" dirty="0"/>
          </a:p>
        </p:txBody>
      </p:sp>
      <p:sp>
        <p:nvSpPr>
          <p:cNvPr id="33" name="Text 2"/>
          <p:cNvSpPr/>
          <p:nvPr/>
        </p:nvSpPr>
        <p:spPr>
          <a:xfrm>
            <a:off x="3124200" y="1657350"/>
            <a:ext cx="127337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Broker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5686425" y="1219200"/>
            <a:ext cx="11334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Spark Streaming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5686425" y="1676400"/>
            <a:ext cx="11334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 Processing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8277225" y="1428750"/>
            <a:ext cx="12589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JSON + Avro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8277225" y="1657350"/>
            <a:ext cx="12589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Storage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914400" y="2667000"/>
            <a:ext cx="5756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Parse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533400" y="3009900"/>
            <a:ext cx="2438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Convert raw messages into structured data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3810000" y="2667000"/>
            <a:ext cx="8461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Validate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3429000" y="3009900"/>
            <a:ext cx="2438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data integrity and format consistency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6705600" y="2667000"/>
            <a:ext cx="164002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 Anomaly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6324600" y="3009900"/>
            <a:ext cx="2438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consumption spikes/drops using statistical methods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9601200" y="2667000"/>
            <a:ext cx="5629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Write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9220200" y="3009900"/>
            <a:ext cx="2438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 results in JSON and Avro formats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838200" y="396240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Anomaly Detection Method</a:t>
            </a:r>
            <a:endParaRPr lang="en-US" sz="1500" dirty="0"/>
          </a:p>
        </p:txBody>
      </p:sp>
      <p:sp>
        <p:nvSpPr>
          <p:cNvPr id="47" name="Text 16"/>
          <p:cNvSpPr/>
          <p:nvPr/>
        </p:nvSpPr>
        <p:spPr>
          <a:xfrm>
            <a:off x="800100" y="4343400"/>
            <a:ext cx="52529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Statistical analysis using mean ± 3σ (standard deviation)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800100" y="4648200"/>
            <a:ext cx="46084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Spike detection: consumption exceeds mean + 3σ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800100" y="4953000"/>
            <a:ext cx="468737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Drop detection: consumption falls below mean - 3σ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800100" y="5257800"/>
            <a:ext cx="46562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Low-latency streaming writes for real-time insights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10796141" y="577215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D9E8E3F-04C5-6FFE-71C0-8C77645E474E}"/>
              </a:ext>
            </a:extLst>
          </p:cNvPr>
          <p:cNvCxnSpPr/>
          <p:nvPr/>
        </p:nvCxnSpPr>
        <p:spPr>
          <a:xfrm>
            <a:off x="4397573" y="1628775"/>
            <a:ext cx="8602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A50DF85-A732-CC2A-C4B8-DF1744D1AD2F}"/>
              </a:ext>
            </a:extLst>
          </p:cNvPr>
          <p:cNvCxnSpPr/>
          <p:nvPr/>
        </p:nvCxnSpPr>
        <p:spPr>
          <a:xfrm>
            <a:off x="6934200" y="1628775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9531" y="1007633"/>
            <a:ext cx="2438400" cy="1257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0131" y="1160033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006" y="1255283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936" y="1581150"/>
            <a:ext cx="243840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5536" y="173355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8886" y="18288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050" y="2436383"/>
            <a:ext cx="2438400" cy="1257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5650" y="2588783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5187" y="2684033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8196" y="1581150"/>
            <a:ext cx="2438400" cy="1257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8796" y="173355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65959" y="1828800"/>
            <a:ext cx="14287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346" y="3886200"/>
            <a:ext cx="5600700" cy="2324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846" y="4114800"/>
            <a:ext cx="28575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846" y="45339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046" y="4610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9846" y="5067300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5571" y="5143500"/>
            <a:ext cx="1333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846" y="56007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5571" y="567690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8646" y="3886200"/>
            <a:ext cx="5600700" cy="2324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89146" y="4114800"/>
            <a:ext cx="17145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9146" y="453390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65346" y="46101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89146" y="5067300"/>
            <a:ext cx="3048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65346" y="51435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9146" y="5600700"/>
            <a:ext cx="3048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65346" y="5676900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C - Monthly Billing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2231931" y="1693433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Avro</a:t>
            </a:r>
            <a:endParaRPr lang="en-US" sz="1200" dirty="0"/>
          </a:p>
        </p:txBody>
      </p:sp>
      <p:sp>
        <p:nvSpPr>
          <p:cNvPr id="34" name="Text 2"/>
          <p:cNvSpPr/>
          <p:nvPr/>
        </p:nvSpPr>
        <p:spPr>
          <a:xfrm>
            <a:off x="2018571" y="1922033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Storage format</a:t>
            </a:r>
            <a:endParaRPr lang="en-US" sz="1050" dirty="0"/>
          </a:p>
        </p:txBody>
      </p:sp>
      <p:sp>
        <p:nvSpPr>
          <p:cNvPr id="35" name="Text 3"/>
          <p:cNvSpPr/>
          <p:nvPr/>
        </p:nvSpPr>
        <p:spPr>
          <a:xfrm>
            <a:off x="6247336" y="2266950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Aggregate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6033976" y="249555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aggregation</a:t>
            </a:r>
            <a:endParaRPr lang="en-US" sz="1050" dirty="0"/>
          </a:p>
        </p:txBody>
      </p:sp>
      <p:sp>
        <p:nvSpPr>
          <p:cNvPr id="37" name="Text 5"/>
          <p:cNvSpPr/>
          <p:nvPr/>
        </p:nvSpPr>
        <p:spPr>
          <a:xfrm>
            <a:off x="2237450" y="3122183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MySQL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2237450" y="3350783"/>
            <a:ext cx="213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Billing plans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9257236" y="226695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Billing History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9470596" y="2495550"/>
            <a:ext cx="213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959896" y="40767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Components</a:t>
            </a:r>
            <a:endParaRPr lang="en-US" sz="1800" dirty="0"/>
          </a:p>
        </p:txBody>
      </p:sp>
      <p:sp>
        <p:nvSpPr>
          <p:cNvPr id="42" name="Text 10"/>
          <p:cNvSpPr/>
          <p:nvPr/>
        </p:nvSpPr>
        <p:spPr>
          <a:xfrm>
            <a:off x="978946" y="4533900"/>
            <a:ext cx="31575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Spark Batch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978946" y="4762500"/>
            <a:ext cx="37890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Processes historical data for billing calculations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978946" y="5067300"/>
            <a:ext cx="37663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Aggregation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978946" y="5295900"/>
            <a:ext cx="451967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Groups consumption data by household and time period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978946" y="5600700"/>
            <a:ext cx="34277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 Integration</a:t>
            </a:r>
            <a:endParaRPr lang="en-US" sz="1200" dirty="0"/>
          </a:p>
        </p:txBody>
      </p:sp>
      <p:sp>
        <p:nvSpPr>
          <p:cNvPr id="47" name="Text 15"/>
          <p:cNvSpPr/>
          <p:nvPr/>
        </p:nvSpPr>
        <p:spPr>
          <a:xfrm>
            <a:off x="978946" y="5829300"/>
            <a:ext cx="3427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Joins with billing plans for rate calculations</a:t>
            </a:r>
            <a:endParaRPr lang="en-US" sz="1050" dirty="0"/>
          </a:p>
        </p:txBody>
      </p:sp>
      <p:sp>
        <p:nvSpPr>
          <p:cNvPr id="48" name="Text 16"/>
          <p:cNvSpPr/>
          <p:nvPr/>
        </p:nvSpPr>
        <p:spPr>
          <a:xfrm>
            <a:off x="6674896" y="40767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49" name="Text 17"/>
          <p:cNvSpPr/>
          <p:nvPr/>
        </p:nvSpPr>
        <p:spPr>
          <a:xfrm>
            <a:off x="6808246" y="4533900"/>
            <a:ext cx="3919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Batch ETL Process</a:t>
            </a:r>
            <a:endParaRPr lang="en-US" sz="1200" dirty="0"/>
          </a:p>
        </p:txBody>
      </p:sp>
      <p:sp>
        <p:nvSpPr>
          <p:cNvPr id="50" name="Text 18"/>
          <p:cNvSpPr/>
          <p:nvPr/>
        </p:nvSpPr>
        <p:spPr>
          <a:xfrm>
            <a:off x="6808246" y="4762500"/>
            <a:ext cx="470308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Demonstrates production-style batch processing for billing</a:t>
            </a:r>
            <a:endParaRPr lang="en-US" sz="1050" dirty="0"/>
          </a:p>
        </p:txBody>
      </p:sp>
      <p:sp>
        <p:nvSpPr>
          <p:cNvPr id="51" name="Text 19"/>
          <p:cNvSpPr/>
          <p:nvPr/>
        </p:nvSpPr>
        <p:spPr>
          <a:xfrm>
            <a:off x="6808246" y="5067300"/>
            <a:ext cx="33272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Heavy Aggregations</a:t>
            </a:r>
            <a:endParaRPr lang="en-US" sz="1200" dirty="0"/>
          </a:p>
        </p:txBody>
      </p:sp>
      <p:sp>
        <p:nvSpPr>
          <p:cNvPr id="52" name="Text 20"/>
          <p:cNvSpPr/>
          <p:nvPr/>
        </p:nvSpPr>
        <p:spPr>
          <a:xfrm>
            <a:off x="6808246" y="5295900"/>
            <a:ext cx="39926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Calculates monthly totals and applies billing rules</a:t>
            </a:r>
            <a:endParaRPr lang="en-US" sz="1050" dirty="0"/>
          </a:p>
        </p:txBody>
      </p:sp>
      <p:sp>
        <p:nvSpPr>
          <p:cNvPr id="53" name="Text 21"/>
          <p:cNvSpPr/>
          <p:nvPr/>
        </p:nvSpPr>
        <p:spPr>
          <a:xfrm>
            <a:off x="6808246" y="5600700"/>
            <a:ext cx="3596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Referential Integrity</a:t>
            </a:r>
            <a:endParaRPr lang="en-US" sz="1200" dirty="0"/>
          </a:p>
        </p:txBody>
      </p:sp>
      <p:sp>
        <p:nvSpPr>
          <p:cNvPr id="54" name="Text 22"/>
          <p:cNvSpPr/>
          <p:nvPr/>
        </p:nvSpPr>
        <p:spPr>
          <a:xfrm>
            <a:off x="6808246" y="5829300"/>
            <a:ext cx="3596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Ensures accurate billing through proper joins</a:t>
            </a:r>
            <a:endParaRPr lang="en-US" sz="1050" dirty="0"/>
          </a:p>
        </p:txBody>
      </p:sp>
      <p:sp>
        <p:nvSpPr>
          <p:cNvPr id="55" name="Text 23"/>
          <p:cNvSpPr/>
          <p:nvPr/>
        </p:nvSpPr>
        <p:spPr>
          <a:xfrm>
            <a:off x="10796141" y="52197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7FDDE5C-9607-F12E-A048-28921D755F3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517931" y="1636283"/>
            <a:ext cx="1577005" cy="427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A79F2C2-CB2B-0EEC-8771-E7F23F94C22C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523450" y="2391783"/>
            <a:ext cx="1571486" cy="673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02D530E-E8B3-9B05-66E0-24989DAA0E95}"/>
              </a:ext>
            </a:extLst>
          </p:cNvPr>
          <p:cNvCxnSpPr>
            <a:endCxn id="13" idx="1"/>
          </p:cNvCxnSpPr>
          <p:nvPr/>
        </p:nvCxnSpPr>
        <p:spPr>
          <a:xfrm>
            <a:off x="8533336" y="2190750"/>
            <a:ext cx="784860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1104900"/>
            <a:ext cx="2438400" cy="1638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650" y="12954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1428750"/>
            <a:ext cx="2476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9525" y="1914525"/>
            <a:ext cx="91440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0" y="1104900"/>
            <a:ext cx="24384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1200" y="12954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3125" y="142875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8075" y="1914525"/>
            <a:ext cx="914400" cy="19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5350" y="1104900"/>
            <a:ext cx="2438400" cy="1638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9750" y="12954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5013" y="1428750"/>
            <a:ext cx="219075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124200"/>
            <a:ext cx="5600700" cy="1828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390900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38481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1910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5339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3124200"/>
            <a:ext cx="5600700" cy="1828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390900"/>
            <a:ext cx="17145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38481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419100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4533900"/>
            <a:ext cx="1524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D - Daily Reports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428750" y="20193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Readings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1223010" y="2324100"/>
            <a:ext cx="2468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Raw meter data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4861560" y="2019300"/>
            <a:ext cx="246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Daily Aggregates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5067300" y="2324100"/>
            <a:ext cx="2057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Spark Batch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8500110" y="2019300"/>
            <a:ext cx="246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Avro Tables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8500110" y="2324100"/>
            <a:ext cx="2468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Analytics storage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009650" y="3352800"/>
            <a:ext cx="6172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Details</a:t>
            </a:r>
            <a:endParaRPr lang="en-US" sz="1800" dirty="0"/>
          </a:p>
        </p:txBody>
      </p:sp>
      <p:sp>
        <p:nvSpPr>
          <p:cNvPr id="33" name="Text 8"/>
          <p:cNvSpPr/>
          <p:nvPr/>
        </p:nvSpPr>
        <p:spPr>
          <a:xfrm>
            <a:off x="876300" y="3810000"/>
            <a:ext cx="40046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Spark Batch job processes daily aggregates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876300" y="4152900"/>
            <a:ext cx="32393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Writes results to Avro format tables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876300" y="4495800"/>
            <a:ext cx="17900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S3 for storage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724650" y="33528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Usage &amp; Benefits</a:t>
            </a:r>
            <a:endParaRPr lang="en-US" sz="1800" dirty="0"/>
          </a:p>
        </p:txBody>
      </p:sp>
      <p:sp>
        <p:nvSpPr>
          <p:cNvPr id="37" name="Text 12"/>
          <p:cNvSpPr/>
          <p:nvPr/>
        </p:nvSpPr>
        <p:spPr>
          <a:xfrm>
            <a:off x="6705600" y="3810000"/>
            <a:ext cx="33711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by dashboards for visualization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743700" y="4152900"/>
            <a:ext cx="25237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Exposed through REST APIs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6705600" y="4495800"/>
            <a:ext cx="22584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Daily processing window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10796141" y="51816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84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34" y="555765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715833"/>
            <a:ext cx="11429999" cy="595459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17" y="1317828"/>
            <a:ext cx="5746478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94" y="1435585"/>
            <a:ext cx="435471" cy="23232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307" y="1317828"/>
            <a:ext cx="5584329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137" y="1408229"/>
            <a:ext cx="435471" cy="232321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0998" y="18757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REST API Services</a:t>
            </a:r>
            <a:endParaRPr lang="en-US" sz="2700" dirty="0"/>
          </a:p>
        </p:txBody>
      </p:sp>
      <p:sp>
        <p:nvSpPr>
          <p:cNvPr id="27" name="Text 3"/>
          <p:cNvSpPr/>
          <p:nvPr/>
        </p:nvSpPr>
        <p:spPr>
          <a:xfrm>
            <a:off x="499194" y="1435585"/>
            <a:ext cx="522565" cy="2323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65F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</a:t>
            </a:r>
            <a:endParaRPr lang="en-US" sz="1020" dirty="0"/>
          </a:p>
        </p:txBody>
      </p:sp>
      <p:sp>
        <p:nvSpPr>
          <p:cNvPr id="28" name="Text 4"/>
          <p:cNvSpPr/>
          <p:nvPr/>
        </p:nvSpPr>
        <p:spPr>
          <a:xfrm>
            <a:off x="972765" y="1418470"/>
            <a:ext cx="39884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/customer/{id}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6685337" y="1408229"/>
            <a:ext cx="522565" cy="2323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65F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</a:t>
            </a:r>
            <a:endParaRPr lang="en-US" sz="1020" dirty="0"/>
          </a:p>
        </p:txBody>
      </p:sp>
      <p:sp>
        <p:nvSpPr>
          <p:cNvPr id="31" name="Text 7"/>
          <p:cNvSpPr/>
          <p:nvPr/>
        </p:nvSpPr>
        <p:spPr>
          <a:xfrm>
            <a:off x="7158908" y="1391114"/>
            <a:ext cx="48650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/household/{id}/recentReadings</a:t>
            </a:r>
            <a:endParaRPr lang="en-US" sz="1350" dirty="0"/>
          </a:p>
        </p:txBody>
      </p:sp>
      <p:sp>
        <p:nvSpPr>
          <p:cNvPr id="44" name="Text 20"/>
          <p:cNvSpPr/>
          <p:nvPr/>
        </p:nvSpPr>
        <p:spPr>
          <a:xfrm>
            <a:off x="10796141" y="52578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EC9BD2D-5882-1BE9-6AD5-F001BD0B26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94" y="1981074"/>
            <a:ext cx="5600701" cy="262875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710D73B-A411-83CE-A193-AD3B3E4B8B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3576" y="1981074"/>
            <a:ext cx="5467871" cy="264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20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84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34" y="555765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" y="715833"/>
            <a:ext cx="11429999" cy="595459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134" y="1434383"/>
            <a:ext cx="5725866" cy="495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434" y="1565798"/>
            <a:ext cx="435471" cy="23232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434383"/>
            <a:ext cx="5535366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565798"/>
            <a:ext cx="397909" cy="232321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0998" y="18757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REST API Services</a:t>
            </a:r>
            <a:endParaRPr lang="en-US" sz="2700" dirty="0"/>
          </a:p>
        </p:txBody>
      </p:sp>
      <p:sp>
        <p:nvSpPr>
          <p:cNvPr id="33" name="Text 9"/>
          <p:cNvSpPr/>
          <p:nvPr/>
        </p:nvSpPr>
        <p:spPr>
          <a:xfrm>
            <a:off x="560634" y="1565798"/>
            <a:ext cx="522565" cy="2323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65F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</a:t>
            </a:r>
            <a:endParaRPr lang="en-US" sz="1020" dirty="0"/>
          </a:p>
        </p:txBody>
      </p:sp>
      <p:sp>
        <p:nvSpPr>
          <p:cNvPr id="34" name="Text 10"/>
          <p:cNvSpPr/>
          <p:nvPr/>
        </p:nvSpPr>
        <p:spPr>
          <a:xfrm>
            <a:off x="1034205" y="1548683"/>
            <a:ext cx="45845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/household/{id}/dailyUsage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6362701" y="1565798"/>
            <a:ext cx="477490" cy="2323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65F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</a:t>
            </a:r>
            <a:endParaRPr lang="en-US" sz="1020" dirty="0"/>
          </a:p>
        </p:txBody>
      </p:sp>
      <p:sp>
        <p:nvSpPr>
          <p:cNvPr id="37" name="Text 13"/>
          <p:cNvSpPr/>
          <p:nvPr/>
        </p:nvSpPr>
        <p:spPr>
          <a:xfrm>
            <a:off x="6836272" y="1548683"/>
            <a:ext cx="42889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/household/{id}/billing</a:t>
            </a:r>
            <a:endParaRPr lang="en-US" sz="1350" dirty="0"/>
          </a:p>
        </p:txBody>
      </p:sp>
      <p:sp>
        <p:nvSpPr>
          <p:cNvPr id="44" name="Text 20"/>
          <p:cNvSpPr/>
          <p:nvPr/>
        </p:nvSpPr>
        <p:spPr>
          <a:xfrm>
            <a:off x="10796141" y="52578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E56BF97-0BD7-8FCC-23EC-B465475D51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434" y="2061098"/>
            <a:ext cx="5611566" cy="295196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FE4BE4D-416A-FF04-A36E-6BED21AB9C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018308"/>
            <a:ext cx="5611566" cy="4231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47023"/>
            <a:ext cx="563880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699423"/>
            <a:ext cx="1905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522546"/>
            <a:ext cx="5638800" cy="685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2674946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387436"/>
            <a:ext cx="5638800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539836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337491"/>
            <a:ext cx="5638800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4489891"/>
            <a:ext cx="152400" cy="1524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Database Schema &amp; Relationships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381000" y="1028700"/>
            <a:ext cx="13716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MySQL operational data model for water utility billing and customer management.</a:t>
            </a:r>
            <a:endParaRPr lang="en-US" sz="1200" dirty="0"/>
          </a:p>
        </p:txBody>
      </p:sp>
      <p:sp>
        <p:nvSpPr>
          <p:cNvPr id="15" name="Text 2"/>
          <p:cNvSpPr/>
          <p:nvPr/>
        </p:nvSpPr>
        <p:spPr>
          <a:xfrm>
            <a:off x="762000" y="1661323"/>
            <a:ext cx="30912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Customer-Household Relationship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495300" y="1928023"/>
            <a:ext cx="6492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One customer can own multiple households</a:t>
            </a:r>
            <a:endParaRPr lang="en-US" sz="1050" dirty="0"/>
          </a:p>
        </p:txBody>
      </p:sp>
      <p:sp>
        <p:nvSpPr>
          <p:cNvPr id="17" name="Text 4"/>
          <p:cNvSpPr/>
          <p:nvPr/>
        </p:nvSpPr>
        <p:spPr>
          <a:xfrm>
            <a:off x="742950" y="2636846"/>
            <a:ext cx="20352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Household-Billing Plan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495300" y="2903546"/>
            <a:ext cx="6492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household has exactly one billing plan</a:t>
            </a:r>
            <a:endParaRPr lang="en-US" sz="1050" dirty="0"/>
          </a:p>
        </p:txBody>
      </p:sp>
      <p:sp>
        <p:nvSpPr>
          <p:cNvPr id="19" name="Text 6"/>
          <p:cNvSpPr/>
          <p:nvPr/>
        </p:nvSpPr>
        <p:spPr>
          <a:xfrm>
            <a:off x="685800" y="3501736"/>
            <a:ext cx="22967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Household-Billing History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495300" y="3768436"/>
            <a:ext cx="6492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household generates multiple bills</a:t>
            </a:r>
            <a:endParaRPr lang="en-US" sz="1050" dirty="0"/>
          </a:p>
        </p:txBody>
      </p:sp>
      <p:sp>
        <p:nvSpPr>
          <p:cNvPr id="21" name="Text 8"/>
          <p:cNvSpPr/>
          <p:nvPr/>
        </p:nvSpPr>
        <p:spPr>
          <a:xfrm>
            <a:off x="723900" y="4451791"/>
            <a:ext cx="1827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Referential Integrity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495300" y="4718491"/>
            <a:ext cx="6492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Foreign keys enforce relationships</a:t>
            </a:r>
            <a:endParaRPr lang="en-US" sz="1050" dirty="0"/>
          </a:p>
        </p:txBody>
      </p:sp>
      <p:sp>
        <p:nvSpPr>
          <p:cNvPr id="23" name="Text 10"/>
          <p:cNvSpPr/>
          <p:nvPr/>
        </p:nvSpPr>
        <p:spPr>
          <a:xfrm>
            <a:off x="10796141" y="466725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6AA8224-4CD5-0977-73C2-3F769DC4B8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8540" y="239753"/>
            <a:ext cx="3589331" cy="63784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2019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381595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35" y="1390650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495" y="16764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495" y="22098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495" y="27432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314700"/>
            <a:ext cx="5600700" cy="1562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5052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36004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3886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41910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4495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104900"/>
            <a:ext cx="5600700" cy="1562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2954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4150" y="139065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16764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19812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22860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2857500"/>
            <a:ext cx="5600700" cy="1562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4800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4150" y="314325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34290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37338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40386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5105400"/>
            <a:ext cx="11430000" cy="762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5295900"/>
            <a:ext cx="346025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9188" y="5410200"/>
            <a:ext cx="11430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Conclusion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1105495" y="1295400"/>
            <a:ext cx="56228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Platform Capabilities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1334095" y="1638300"/>
            <a:ext cx="445710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water consumption monitoring with low-latency processing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1334095" y="2171700"/>
            <a:ext cx="445710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Anomaly detection for leaks and spikes using statistical modeling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1334095" y="2705100"/>
            <a:ext cx="48348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billing system with batch ETL processes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1181100" y="3505200"/>
            <a:ext cx="53483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Technical Achievements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1409700" y="3848100"/>
            <a:ext cx="44903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End-to-end implementation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1457325" y="4152900"/>
            <a:ext cx="50740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Scalable design supporting massive device simulation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1457325" y="4457700"/>
            <a:ext cx="46927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Fault-tolerant data processing across the platform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7010400" y="1295400"/>
            <a:ext cx="52124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 Highlights</a:t>
            </a:r>
            <a:endParaRPr lang="en-US" sz="1500" dirty="0"/>
          </a:p>
        </p:txBody>
      </p:sp>
      <p:sp>
        <p:nvSpPr>
          <p:cNvPr id="41" name="Text 10"/>
          <p:cNvSpPr/>
          <p:nvPr/>
        </p:nvSpPr>
        <p:spPr>
          <a:xfrm>
            <a:off x="7239000" y="1638300"/>
            <a:ext cx="49381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Multiple storage systems for different access patterns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7239000" y="1943100"/>
            <a:ext cx="44730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 of streaming and batch processing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7239000" y="2247900"/>
            <a:ext cx="34534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Production-style big data architecture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7010400" y="3048000"/>
            <a:ext cx="44233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Benefits</a:t>
            </a:r>
            <a:endParaRPr lang="en-US" sz="1500" dirty="0"/>
          </a:p>
        </p:txBody>
      </p:sp>
      <p:sp>
        <p:nvSpPr>
          <p:cNvPr id="45" name="Text 14"/>
          <p:cNvSpPr/>
          <p:nvPr/>
        </p:nvSpPr>
        <p:spPr>
          <a:xfrm>
            <a:off x="7239000" y="3390900"/>
            <a:ext cx="50336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water waste through early anomaly detection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7239000" y="3695700"/>
            <a:ext cx="44148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customer service with accurate billing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7286625" y="4000500"/>
            <a:ext cx="40492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insights for utility optimization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993725" y="5257800"/>
            <a:ext cx="106648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Successfully implemented a real-time + batch data platform with scalable, fault-tolerant design suitable for production environments.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10796141" y="60198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251" y="10287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228" y="2013697"/>
            <a:ext cx="790724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724" y="2013697"/>
            <a:ext cx="923925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453" y="2127997"/>
            <a:ext cx="1714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1332" y="2013697"/>
            <a:ext cx="956667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4539" y="2127997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744" y="2013697"/>
            <a:ext cx="933152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6316" y="2130238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63296" y="2015938"/>
            <a:ext cx="127947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7769" y="2127997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8800" y="2743200"/>
            <a:ext cx="2692301" cy="1524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46350" y="28956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65413" y="2990850"/>
            <a:ext cx="21907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49701" y="2743200"/>
            <a:ext cx="2692450" cy="1524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67251" y="28956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00601" y="299085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70750" y="2743200"/>
            <a:ext cx="2692301" cy="1524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88301" y="289560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21651" y="299085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19960" y="4724400"/>
            <a:ext cx="4572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72360" y="4800600"/>
            <a:ext cx="152400" cy="304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098444" y="381000"/>
            <a:ext cx="399496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</a:t>
            </a:r>
            <a:endParaRPr lang="en-US" sz="4500" dirty="0"/>
          </a:p>
        </p:txBody>
      </p:sp>
      <p:sp>
        <p:nvSpPr>
          <p:cNvPr id="25" name="Text 1"/>
          <p:cNvSpPr/>
          <p:nvPr/>
        </p:nvSpPr>
        <p:spPr>
          <a:xfrm>
            <a:off x="975360" y="1447800"/>
            <a:ext cx="10241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questions and discussion about the Smart Water Utility Platform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3270156" y="2057400"/>
            <a:ext cx="94886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4292352" y="2057400"/>
            <a:ext cx="9239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Akka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5368677" y="2057400"/>
            <a:ext cx="95666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Kafka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6477744" y="2057400"/>
            <a:ext cx="93315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Spark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7435349" y="2057400"/>
            <a:ext cx="153537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JSON/Avro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1742450" y="3467100"/>
            <a:ext cx="28650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Insights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1981200" y="3733800"/>
            <a:ext cx="23875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Immediate visibility into water consumption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4663336" y="3467100"/>
            <a:ext cx="2865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4663336" y="3733800"/>
            <a:ext cx="28651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Early identification of leaks/spikes</a:t>
            </a:r>
            <a:endParaRPr lang="en-US" sz="1050" dirty="0"/>
          </a:p>
        </p:txBody>
      </p:sp>
      <p:sp>
        <p:nvSpPr>
          <p:cNvPr id="35" name="Text 11"/>
          <p:cNvSpPr/>
          <p:nvPr/>
        </p:nvSpPr>
        <p:spPr>
          <a:xfrm>
            <a:off x="7584400" y="3467100"/>
            <a:ext cx="28650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Scalable Architecture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7584400" y="3733800"/>
            <a:ext cx="28650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Production-style data platform</a:t>
            </a:r>
            <a:endParaRPr lang="en-US" sz="1050" dirty="0"/>
          </a:p>
        </p:txBody>
      </p:sp>
      <p:sp>
        <p:nvSpPr>
          <p:cNvPr id="37" name="Text 13"/>
          <p:cNvSpPr/>
          <p:nvPr/>
        </p:nvSpPr>
        <p:spPr>
          <a:xfrm>
            <a:off x="5313417" y="4781550"/>
            <a:ext cx="213651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Questions?</a:t>
            </a:r>
            <a:endParaRPr lang="en-US" sz="2250" dirty="0"/>
          </a:p>
        </p:txBody>
      </p:sp>
      <p:sp>
        <p:nvSpPr>
          <p:cNvPr id="38" name="Text 14"/>
          <p:cNvSpPr/>
          <p:nvPr/>
        </p:nvSpPr>
        <p:spPr>
          <a:xfrm>
            <a:off x="10796141" y="5410200"/>
            <a:ext cx="1217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780</Words>
  <Application>Microsoft Macintosh PowerPoint</Application>
  <PresentationFormat>Widescreen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RAC IT</cp:lastModifiedBy>
  <cp:revision>10</cp:revision>
  <dcterms:created xsi:type="dcterms:W3CDTF">2025-12-15T19:01:43Z</dcterms:created>
  <dcterms:modified xsi:type="dcterms:W3CDTF">2025-12-16T04:28:50Z</dcterms:modified>
</cp:coreProperties>
</file>